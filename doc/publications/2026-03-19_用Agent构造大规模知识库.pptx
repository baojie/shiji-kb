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webp"/><Relationship Id="rId1" Type="http://schemas.openxmlformats.org/officeDocument/2006/relationships/image" Target="../media/image1.web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hyperlink" Target="https://github.com/baojie/shiji-kb/blob/main/skills/00-META-08_%E6%A0%87%E6%B3%A8%E4%BD%93%E7%B3%BB%E8%AE%BE%E8%AE%A1.md" TargetMode="External"/><Relationship Id="rId8" Type="http://schemas.openxmlformats.org/officeDocument/2006/relationships/hyperlink" Target="https://github.com/baojie/shiji-kb/blob/main/skills/00-META-07_%E5%8F%AF%E8%AF%BB%E6%80%A7.md" TargetMode="External"/><Relationship Id="rId7" Type="http://schemas.openxmlformats.org/officeDocument/2006/relationships/hyperlink" Target="https://github.com/baojie/shiji-kb/blob/main/skills/00-META-06_SKILL%E4%BC%98%E5%8C%96%E4%B8%8E%E6%BC%94%E5%8C%96.md" TargetMode="External"/><Relationship Id="rId6" Type="http://schemas.openxmlformats.org/officeDocument/2006/relationships/hyperlink" Target="https://github.com/baojie/shiji-kb/blob/main/skills/00-META-05_%E7%9F%A5%E8%AF%86%E4%BD%9C%E4%B8%BA%E4%B8%8A%E4%B8%8B%E6%96%87%E5%8E%8B%E7%BC%A9.md" TargetMode="External"/><Relationship Id="rId57" Type="http://schemas.openxmlformats.org/officeDocument/2006/relationships/notesSlide" Target="../notesSlides/notesSlide18.xml"/><Relationship Id="rId56" Type="http://schemas.openxmlformats.org/officeDocument/2006/relationships/slideLayout" Target="../slideLayouts/slideLayout1.xml"/><Relationship Id="rId55" Type="http://schemas.openxmlformats.org/officeDocument/2006/relationships/hyperlink" Target="https://github.com/lihanghang/clawshire-open-skill" TargetMode="External"/><Relationship Id="rId54" Type="http://schemas.openxmlformats.org/officeDocument/2006/relationships/hyperlink" Target="https://clawshire.cn/blog/why-structured-announcements" TargetMode="External"/><Relationship Id="rId53" Type="http://schemas.openxmlformats.org/officeDocument/2006/relationships/hyperlink" Target="https://clawshire.cn/blog/dingtalk-feishu-webhook-guide" TargetMode="External"/><Relationship Id="rId52" Type="http://schemas.openxmlformats.org/officeDocument/2006/relationships/hyperlink" Target="https://clawshire.cn/blog/quickstart" TargetMode="External"/><Relationship Id="rId51" Type="http://schemas.openxmlformats.org/officeDocument/2006/relationships/hyperlink" Target="https://api.clawshire.cn/scalar" TargetMode="External"/><Relationship Id="rId50" Type="http://schemas.openxmlformats.org/officeDocument/2006/relationships/hyperlink" Target="https://github.com/baojie/shiji-kb/blob/main/skills/SKILL_09b_%E7%9F%A5%E8%AF%86%E5%BA%93%E6%B8%B8%E6%88%8F%E5%8C%96.md" TargetMode="External"/><Relationship Id="rId5" Type="http://schemas.openxmlformats.org/officeDocument/2006/relationships/hyperlink" Target="https://github.com/baojie/shiji-kb/blob/main/skills/00-META-04_%E6%9F%B3%E5%8F%B6%E5%88%80%E6%96%B9%E6%B3%95.md" TargetMode="External"/><Relationship Id="rId49" Type="http://schemas.openxmlformats.org/officeDocument/2006/relationships/hyperlink" Target="https://github.com/baojie/shiji-kb/blob/main/skills/SKILL_09a_%E8%AE%A4%E7%9F%A5%E8%BE%85%E5%8A%A9%E9%98%85%E8%AF%BB%E5%99%A8.md" TargetMode="External"/><Relationship Id="rId48" Type="http://schemas.openxmlformats.org/officeDocument/2006/relationships/hyperlink" Target="https://github.com/baojie/shiji-kb/blob/main/skills/SKILL_09_%E5%BA%94%E7%94%A8%E6%9E%84%E9%80%A0.md" TargetMode="External"/><Relationship Id="rId47" Type="http://schemas.openxmlformats.org/officeDocument/2006/relationships/hyperlink" Target="https://github.com/baojie/shiji-kb/blob/main/skills/SKILL_08_SKU%E6%9E%84%E9%80%A0.md" TargetMode="External"/><Relationship Id="rId46" Type="http://schemas.openxmlformats.org/officeDocument/2006/relationships/hyperlink" Target="https://github.com/baojie/shiji-kb/blob/main/skills/SKILL_07c_%E5%8F%8D%E5%B8%B8%E6%8E%A8%E7%90%86.md" TargetMode="External"/><Relationship Id="rId45" Type="http://schemas.openxmlformats.org/officeDocument/2006/relationships/hyperlink" Target="https://github.com/baojie/shiji-kb/blob/main/skills/SKILL_07b_%E5%A7%93%E6%B0%8F%E6%8E%A8%E7%90%86.md" TargetMode="External"/><Relationship Id="rId44" Type="http://schemas.openxmlformats.org/officeDocument/2006/relationships/hyperlink" Target="https://github.com/baojie/shiji-kb/blob/main/skills/SKILL_07a_%E4%BA%BA%E7%89%A9%E7%94%9F%E5%8D%92%E5%B9%B4%E6%8E%A8%E6%96%AD.md" TargetMode="External"/><Relationship Id="rId43" Type="http://schemas.openxmlformats.org/officeDocument/2006/relationships/hyperlink" Target="https://github.com/baojie/shiji-kb/blob/main/skills/SKILL_07_%E9%80%BB%E8%BE%91%E6%8E%A8%E7%90%86.md" TargetMode="External"/><Relationship Id="rId42" Type="http://schemas.openxmlformats.org/officeDocument/2006/relationships/hyperlink" Target="https://github.com/baojie/shiji-kb/blob/main/skills/SKILL_06_%E6%9C%AC%E4%BD%93%E6%9E%84%E5%BB%BA.md" TargetMode="External"/><Relationship Id="rId41" Type="http://schemas.openxmlformats.org/officeDocument/2006/relationships/hyperlink" Target="https://github.com/baojie/shiji-kb/blob/main/skills/SKILL_05d_%E4%BA%8B%E5%AE%9E%E5%8F%91%E7%8E%B0.md" TargetMode="External"/><Relationship Id="rId40" Type="http://schemas.openxmlformats.org/officeDocument/2006/relationships/hyperlink" Target="https://github.com/baojie/shiji-kb/blob/main/skills/SKILL_05c_%E4%BA%BA%E7%89%A9%E5%85%B3%E7%B3%BB%E6%9E%84%E5%BB%BA.md" TargetMode="External"/><Relationship Id="rId4" Type="http://schemas.openxmlformats.org/officeDocument/2006/relationships/hyperlink" Target="https://github.com/baojie/shiji-kb/blob/main/skills/00-META-03_%E5%86%B7%E5%90%AF%E5%8A%A8.md" TargetMode="External"/><Relationship Id="rId39" Type="http://schemas.openxmlformats.org/officeDocument/2006/relationships/hyperlink" Target="https://github.com/baojie/shiji-kb/blob/main/skills/SKILL_05b_%E5%AE%9E%E4%BD%93%E5%85%B3%E7%B3%BB%E6%9E%84%E5%BB%BA.md" TargetMode="External"/><Relationship Id="rId38" Type="http://schemas.openxmlformats.org/officeDocument/2006/relationships/hyperlink" Target="https://github.com/baojie/shiji-kb/blob/main/skills/SKILL_05a_%E4%BA%8B%E4%BB%B6%E5%85%B3%E7%B3%BB%E5%8F%91%E7%8E%B0.md" TargetMode="External"/><Relationship Id="rId37" Type="http://schemas.openxmlformats.org/officeDocument/2006/relationships/hyperlink" Target="https://github.com/baojie/shiji-kb/blob/main/skills/SKILL_05_%E5%85%B3%E7%B3%BB%E6%9E%84%E5%BB%BA.md" TargetMode="External"/><Relationship Id="rId36" Type="http://schemas.openxmlformats.org/officeDocument/2006/relationships/hyperlink" Target="https://github.com/baojie/shiji-kb/blob/main/skills/SKILL_04e_%E5%B9%B4%E4%BB%BD%E6%B6%88%E6%AD%A7.md" TargetMode="External"/><Relationship Id="rId35" Type="http://schemas.openxmlformats.org/officeDocument/2006/relationships/hyperlink" Target="https://github.com/baojie/shiji-kb/blob/main/skills/SKILL_04d_%E4%BA%8B%E4%BB%B6%E5%B9%B4%E4%BB%A3%E5%AE%A1%E6%9F%A5.md" TargetMode="External"/><Relationship Id="rId34" Type="http://schemas.openxmlformats.org/officeDocument/2006/relationships/hyperlink" Target="https://github.com/baojie/shiji-kb/blob/main/skills/SKILL_04c_%E4%BA%8B%E4%BB%B6%E5%B9%B4%E4%BB%A3%E6%8E%A8%E6%96%AD.md" TargetMode="External"/><Relationship Id="rId33" Type="http://schemas.openxmlformats.org/officeDocument/2006/relationships/hyperlink" Target="https://github.com/baojie/shiji-kb/blob/main/skills/SKILL_04b_%E5%8D%81%E8%A1%A8%E4%BA%8B%E4%BB%B6%E5%A4%84%E7%90%86.md" TargetMode="External"/><Relationship Id="rId32" Type="http://schemas.openxmlformats.org/officeDocument/2006/relationships/hyperlink" Target="https://github.com/baojie/shiji-kb/blob/main/skills/SKILL_04a_%E4%BA%8B%E4%BB%B6%E8%AF%86%E5%88%AB.md" TargetMode="External"/><Relationship Id="rId31" Type="http://schemas.openxmlformats.org/officeDocument/2006/relationships/hyperlink" Target="https://github.com/baojie/shiji-kb/blob/main/skills/SKILL_04_%E4%BA%8B%E4%BB%B6%E6%9E%84%E5%BB%BA.md" TargetMode="External"/><Relationship Id="rId30" Type="http://schemas.openxmlformats.org/officeDocument/2006/relationships/hyperlink" Target="https://github.com/baojie/shiji-kb/blob/main/skills/SKILL_03d_%E6%B8%B2%E6%9F%93%E4%B8%8E%E5%8F%91%E5%B8%83.md" TargetMode="External"/><Relationship Id="rId3" Type="http://schemas.openxmlformats.org/officeDocument/2006/relationships/hyperlink" Target="https://github.com/baojie/shiji-kb/blob/main/skills/00-META-02_%E8%BF%AD%E4%BB%A3%E5%B7%A5%E4%BD%9C%E6%B5%81.md" TargetMode="External"/><Relationship Id="rId29" Type="http://schemas.openxmlformats.org/officeDocument/2006/relationships/hyperlink" Target="https://github.com/baojie/shiji-kb/blob/main/skills/SKILL_03c_%E5%AE%9E%E4%BD%93%E6%A0%87%E6%B3%A8%E5%8F%8D%E6%80%9D.md" TargetMode="External"/><Relationship Id="rId28" Type="http://schemas.openxmlformats.org/officeDocument/2006/relationships/hyperlink" Target="https://github.com/baojie/shiji-kb/blob/main/skills/SKILL_03b_%E5%AE%9E%E4%BD%93%E6%B6%88%E6%AD%A7.md" TargetMode="External"/><Relationship Id="rId27" Type="http://schemas.openxmlformats.org/officeDocument/2006/relationships/hyperlink" Target="https://github.com/baojie/shiji-kb/blob/main/skills/SKILL_03a_%E5%AE%9E%E4%BD%93%E6%A0%87%E6%B3%A8.md" TargetMode="External"/><Relationship Id="rId26" Type="http://schemas.openxmlformats.org/officeDocument/2006/relationships/hyperlink" Target="https://github.com/baojie/shiji-kb/blob/main/skills/SKILL_03_%E5%AE%9E%E4%BD%93%E6%9E%84%E5%BB%BA.md" TargetMode="External"/><Relationship Id="rId25" Type="http://schemas.openxmlformats.org/officeDocument/2006/relationships/hyperlink" Target="https://github.com/baojie/shiji-kb/blob/main/skills/SKILL_02h_%E8%AF%8D%E8%A1%A8%E6%9E%84%E5%BB%BA.md" TargetMode="External"/><Relationship Id="rId24" Type="http://schemas.openxmlformats.org/officeDocument/2006/relationships/hyperlink" Target="https://github.com/baojie/shiji-kb/blob/main/skills/SKILL_02g_%E8%A1%A8%E6%A0%BC%E7%BB%93%E6%9E%84%E8%AF%AD%E4%B9%89%E5%88%86%E6%9E%90.md" TargetMode="External"/><Relationship Id="rId23" Type="http://schemas.openxmlformats.org/officeDocument/2006/relationships/hyperlink" Target="https://github.com/baojie/shiji-kb/blob/main/skills/SKILL_02f_%E6%96%87%E6%9C%AC%E7%BB%9F%E8%AE%A1.md" TargetMode="External"/><Relationship Id="rId22" Type="http://schemas.openxmlformats.org/officeDocument/2006/relationships/hyperlink" Target="https://github.com/baojie/shiji-kb/blob/main/skills/SKILL_02e_%E8%AF%8D%E6%B3%95%E5%88%86%E6%9E%90.md" TargetMode="External"/><Relationship Id="rId21" Type="http://schemas.openxmlformats.org/officeDocument/2006/relationships/hyperlink" Target="https://github.com/baojie/shiji-kb/blob/main/skills/SKILL_02d_%E7%BB%93%E6%9E%84%E8%AF%AD%E4%B9%89%E5%88%86%E6%9E%90.md" TargetMode="External"/><Relationship Id="rId20" Type="http://schemas.openxmlformats.org/officeDocument/2006/relationships/hyperlink" Target="https://github.com/baojie/shiji-kb/blob/main/skills/SKILL_02c_%E4%B8%89%E5%AE%B6%E6%B3%A8%E6%A0%87%E6%B3%A8.md" TargetMode="External"/><Relationship Id="rId2" Type="http://schemas.openxmlformats.org/officeDocument/2006/relationships/hyperlink" Target="https://github.com/baojie/shiji-kb/blob/main/skills/00-META-01_%E5%8F%8D%E6%80%9D.md" TargetMode="External"/><Relationship Id="rId19" Type="http://schemas.openxmlformats.org/officeDocument/2006/relationships/hyperlink" Target="https://github.com/baojie/shiji-kb/blob/main/skills/SKILL_02b_%E5%8C%BA%E5%9D%97%E4%B8%8E%E9%9F%B5%E6%96%87%E5%A4%84%E7%90%86.md" TargetMode="External"/><Relationship Id="rId18" Type="http://schemas.openxmlformats.org/officeDocument/2006/relationships/hyperlink" Target="https://github.com/baojie/shiji-kb/blob/main/skills/SKILL_02a_%E7%AB%A0%E8%8A%82%E5%88%87%E5%88%86%E4%B8%8E%E7%BC%96%E5%8F%B7.md" TargetMode="External"/><Relationship Id="rId17" Type="http://schemas.openxmlformats.org/officeDocument/2006/relationships/hyperlink" Target="https://github.com/baojie/shiji-kb/blob/main/skills/SKILL_02_%E7%BB%93%E6%9E%84%E5%88%86%E6%9E%90.md" TargetMode="External"/><Relationship Id="rId16" Type="http://schemas.openxmlformats.org/officeDocument/2006/relationships/hyperlink" Target="https://github.com/baojie/shiji-kb/blob/main/skills/SKILL_01_%E5%8F%A4%E7%B1%8D%E6%A0%A1%E5%8B%98.md" TargetMode="External"/><Relationship Id="rId15" Type="http://schemas.openxmlformats.org/officeDocument/2006/relationships/hyperlink" Target="https://github.com/baojie/shiji-kb/blob/main/skills/SKILL_00_%E7%AE%A1%E7%BA%BF%E6%80%BB%E8%A7%88.md" TargetMode="External"/><Relationship Id="rId14" Type="http://schemas.openxmlformats.org/officeDocument/2006/relationships/hyperlink" Target="https://github.com/baojie/shiji-kb/blob/main/skills/00-META-13_%E6%8A%80%E8%83%BD%E8%BF%81%E7%A7%BB.md" TargetMode="External"/><Relationship Id="rId13" Type="http://schemas.openxmlformats.org/officeDocument/2006/relationships/hyperlink" Target="https://github.com/baojie/shiji-kb/blob/main/skills/00-META-12_%E6%95%B0%E6%8D%AE%E8%9E%8D%E5%90%88.md" TargetMode="External"/><Relationship Id="rId12" Type="http://schemas.openxmlformats.org/officeDocument/2006/relationships/hyperlink" Target="https://github.com/baojie/shiji-kb/blob/main/skills/00-META-11_%E6%95%B0%E6%8D%AE%E4%BD%93%E6%84%9F%E5%9F%B9%E5%85%BB.md" TargetMode="External"/><Relationship Id="rId11" Type="http://schemas.openxmlformats.org/officeDocument/2006/relationships/hyperlink" Target="https://github.com/baojie/shiji-kb/blob/main/skills/00-META-10_%E8%B4%A8%E9%87%8F%E6%8E%A7%E5%88%B6.md" TargetMode="External"/><Relationship Id="rId10" Type="http://schemas.openxmlformats.org/officeDocument/2006/relationships/hyperlink" Target="https://github.com/baojie/shiji-kb/blob/main/skills/00-META-09_Agent%E6%8F%90%E7%A4%BA%E8%AF%8D%E5%B7%A5%E7%A8%8B.md" TargetMode="External"/><Relationship Id="rId1" Type="http://schemas.openxmlformats.org/officeDocument/2006/relationships/hyperlink" Target="https://github.com/baojie/shiji-kb/blob/main/skills/00-META-00_%E5%A5%BD%E4%B8%9C%E8%A5%BF%E9%83%BD%E6%98%AF%E6%80%BB%E7%BB%93%E5%87%BA%E6%9D%A5%E7%9A%84.md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371600"/>
            <a:ext cx="8778240" cy="274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Agent 构造大规模知识库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以《史记》知识库为例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" y="3246120"/>
            <a:ext cx="8778240" cy="274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4747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鲍捷  ·  baojie.github.io/shiji-kb  ·  github.com/baojie/shiji-kb  ·  2026-03-19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4114800"/>
            <a:ext cx="2560320" cy="5029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1148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I：成果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4114800"/>
            <a:ext cx="2560320" cy="502920"/>
          </a:xfrm>
          <a:prstGeom prst="rect">
            <a:avLst/>
          </a:prstGeom>
          <a:solidFill>
            <a:srgbClr val="B8954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41148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II：管线 SKILL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4114800"/>
            <a:ext cx="2560320" cy="502920"/>
          </a:xfrm>
          <a:prstGeom prst="rect">
            <a:avLst/>
          </a:prstGeom>
          <a:solidFill>
            <a:srgbClr val="B8954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41148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III：元技能 Metaskill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417320"/>
            <a:ext cx="8778240" cy="36576"/>
          </a:xfrm>
          <a:prstGeom prst="rect">
            <a:avLst/>
          </a:prstGeom>
          <a:solidFill>
            <a:srgbClr val="DDD0B8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B895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8046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我们用 AI 在《史记》上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做到了什么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64592" y="3017520"/>
            <a:ext cx="8778240" cy="36576"/>
          </a:xfrm>
          <a:prstGeom prst="rect">
            <a:avLst/>
          </a:prstGeom>
          <a:solidFill>
            <a:srgbClr val="DDD0B8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004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95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57万字 · 10万实体 · 3185事件 · 7652关系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核心成果：全量结构化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432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64008" cy="1691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2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130篇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57.7万字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18类实体语义标注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 全覆盖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64008" cy="1691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2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12,380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67335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词条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实体标注 99,214 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人名 / 地名 / 官职等18类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64008" cy="1691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97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2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3,185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63640" y="167335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个事件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11类事件类型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98.7% 标注公元纪年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880360"/>
            <a:ext cx="27432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880360"/>
            <a:ext cx="64008" cy="1691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175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2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7,652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20040" y="35935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条关系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3886200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9种关系类型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1876条跨章关系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880360"/>
            <a:ext cx="27432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80360"/>
            <a:ext cx="64008" cy="1691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175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2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675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291840" y="35935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知识单元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3886200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434 事实 + 241 技能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可直接喂给大模型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64008" cy="1691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175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22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263640" y="35935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 SKILL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560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9大阶段全覆盖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换一部书，管线不变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知识库能做什么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133731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675" y="951103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语法高亮阅读器</a:t>
            </a:r>
            <a:endParaRPr lang="en-US" sz="1400" b="1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1828800" cy="605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18类实体着色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平均每6字1个实体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对话浮现·三家注弹窗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41575" y="1005840"/>
            <a:ext cx="2011680" cy="133159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1005840"/>
            <a:ext cx="2011680" cy="50292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005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33523" y="951103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事件地铁图</a:t>
            </a:r>
            <a:endParaRPr lang="en-US" sz="1400" b="1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33015" y="1600200"/>
            <a:ext cx="1828800" cy="605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130条线·3185个站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跨章换乘·时间轴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前2700年→前87年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54550" y="1005840"/>
            <a:ext cx="2011680" cy="132651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005840"/>
            <a:ext cx="2011680" cy="50292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005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46371" y="951103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知识图谱查询</a:t>
            </a:r>
            <a:endParaRPr lang="en-US" sz="1400" b="1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45990" y="1600200"/>
            <a:ext cx="1828800" cy="605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人物关系·势力版图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事件因果链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直接喂给大模型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66890" y="1005840"/>
            <a:ext cx="2011680" cy="133794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005840"/>
            <a:ext cx="2011680" cy="50292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1005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59219" y="951103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可复用知识单元</a:t>
            </a:r>
            <a:endParaRPr lang="en-US" sz="1400" b="1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58330" y="1600200"/>
            <a:ext cx="1828800" cy="605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434项事实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241项历史技能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内容创作·游戏化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扩展路线：《史记》→ 二十四史 (4600万字) → 四库全书 (数亿字)</a:t>
            </a:r>
            <a:endParaRPr lang="en-US" sz="1300" dirty="0"/>
          </a:p>
        </p:txBody>
      </p:sp>
      <p:pic>
        <p:nvPicPr>
          <p:cNvPr id="28" name="图片 27"/>
          <p:cNvPicPr/>
          <p:nvPr/>
        </p:nvPicPr>
        <p:blipFill>
          <a:blip r:embed="rId1"/>
        </p:blipFill>
        <p:spPr>
          <a:xfrm>
            <a:off x="495300" y="2535555"/>
            <a:ext cx="3957320" cy="1965325"/>
          </a:xfrm>
          <a:prstGeom prst="rect">
            <a:avLst/>
          </a:prstGeom>
        </p:spPr>
      </p:pic>
      <p:pic>
        <p:nvPicPr>
          <p:cNvPr id="29" name="图片 28"/>
          <p:cNvPicPr/>
          <p:nvPr/>
        </p:nvPicPr>
        <p:blipFill>
          <a:blip r:embed="rId2"/>
        </p:blipFill>
        <p:spPr>
          <a:xfrm>
            <a:off x="4643755" y="2532380"/>
            <a:ext cx="342265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417320"/>
            <a:ext cx="8778240" cy="36576"/>
          </a:xfrm>
          <a:prstGeom prst="rect">
            <a:avLst/>
          </a:prstGeom>
          <a:solidFill>
            <a:srgbClr val="DDD0B8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2C1F0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8046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构造管线 SKILL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64592" y="2834640"/>
            <a:ext cx="8778240" cy="36576"/>
          </a:xfrm>
          <a:prstGeom prst="rect">
            <a:avLst/>
          </a:prstGeom>
          <a:solidFill>
            <a:srgbClr val="DDD0B8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0175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95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换一部书，管线不变，参数调整，即可构造新知识库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九大阶段 · 从原始文本到知识应用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960120"/>
            <a:ext cx="2788920" cy="1188720"/>
          </a:xfrm>
          <a:prstGeom prst="rect">
            <a:avLst/>
          </a:prstGeom>
          <a:solidFill>
            <a:srgbClr val="2C1F0A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960120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332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014984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67712" y="1051560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1个SKILL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9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多版本比对·底本校正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45536" y="960120"/>
            <a:ext cx="2788920" cy="1188720"/>
          </a:xfrm>
          <a:prstGeom prst="rect">
            <a:avLst/>
          </a:prstGeom>
          <a:solidFill>
            <a:srgbClr val="2C1F0A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45536" y="960120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0332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94176" y="1014984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48656" y="1051560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9个SKILL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55264" y="1463040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9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章节切分·段落编号·三家注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88920" cy="1188720"/>
          </a:xfrm>
          <a:prstGeom prst="rect">
            <a:avLst/>
          </a:prstGeom>
          <a:solidFill>
            <a:srgbClr val="2C1F0A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0332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014984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实体构建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1051560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5个SKILL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1463040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9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18类NER·消歧·多轮反思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64592" y="2313432"/>
            <a:ext cx="2788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4592" y="2313432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38658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236829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事件构建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67712" y="2404872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6个SKILL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2816352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事件提取·纪年推断·年代审查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145536" y="2313432"/>
            <a:ext cx="2788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45536" y="2313432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238658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94176" y="236829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关系构建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48656" y="2404872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5个SKILL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55264" y="2816352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9种关系·人物/地点·SPO三元组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2313432"/>
            <a:ext cx="2788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313432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238658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236829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本体构建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0" y="2404872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2个SKILL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36208" y="2816352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词表→分类树→OWL/RDF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64592" y="3666744"/>
            <a:ext cx="2788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64592" y="3666744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7398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3232" y="372160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逻辑推理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267712" y="3758184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4个SKILL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169664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矛盾检测·生卒年推断·姓氏推理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145536" y="3666744"/>
            <a:ext cx="2788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45536" y="3666744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55264" y="37398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694176" y="372160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SKU构造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248656" y="3758184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1个SKILL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55264" y="4169664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事实/技能/关系知识单元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126480" y="3666744"/>
            <a:ext cx="2788920" cy="11887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26480" y="3666744"/>
            <a:ext cx="64008" cy="1188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37398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675120" y="372160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应用构造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29600" y="3758184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3个SKILL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36208" y="4169664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阅读器·地铁图·游戏化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四层语义递进模型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" y="960120"/>
            <a:ext cx="7991856" cy="868680"/>
          </a:xfrm>
          <a:prstGeom prst="rect">
            <a:avLst/>
          </a:prstGeom>
          <a:solidFill>
            <a:srgbClr val="C8922A">
              <a:alpha val="8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69264" y="960120"/>
            <a:ext cx="411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72184" y="1033272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应用语义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2184" y="1435608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0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考据推理 · 矛盾发现 · 规律归纳 · 历史叙事重构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143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应用构造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6656" y="1947672"/>
            <a:ext cx="8193024" cy="868680"/>
          </a:xfrm>
          <a:prstGeom prst="rect">
            <a:avLst/>
          </a:prstGeom>
          <a:solidFill>
            <a:srgbClr val="8B7240">
              <a:alpha val="85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768096" y="1947672"/>
            <a:ext cx="411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71016" y="202082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知识语义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1016" y="2423160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0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分类体系 · 推理规则 · 知识单元（SKU）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130552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本体  07 推理  08 SKU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" y="2935224"/>
            <a:ext cx="8394192" cy="868680"/>
          </a:xfrm>
          <a:prstGeom prst="rect">
            <a:avLst/>
          </a:prstGeom>
          <a:solidFill>
            <a:srgbClr val="A08030">
              <a:alpha val="85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66928" y="2935224"/>
            <a:ext cx="411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69848" y="3008376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图谱语义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9848" y="341071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0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人物/地点/事件识别 · 消歧 · 关系发现 · 原子事实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118104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实体  04 事件  05 关系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22776"/>
            <a:ext cx="8595360" cy="868680"/>
          </a:xfrm>
          <a:prstGeom prst="rect">
            <a:avLst/>
          </a:prstGeom>
          <a:solidFill>
            <a:srgbClr val="8B7240">
              <a:alpha val="85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365760" y="3922776"/>
            <a:ext cx="411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" y="399592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结构语义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398264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0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切分 · 编号 · 因果/并列/递进 · 注释对齐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105656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校勘  02 结构分析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设计原则：每个工序都是可执行的文档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输入/输出规范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138074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每个SKILL明确定义：接收什么格式的文本，产出什么格式的数据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965960"/>
            <a:ext cx="420624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96596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3911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标注规则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" y="238658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18类实体的边界定义、消歧规则、异体字处理，覆盖所有边缘情况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420624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97180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4495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质检工具 (Lint)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339242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五层质检体系：格式→统计→一致性→语义→跨章，每层都有自动脚本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977640"/>
            <a:ext cx="420624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97764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5079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常见错误索引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5760" y="439826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从实际错误总结的 Checklist，避免重复犯同一类错误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6012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3327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多轮反思流程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46320" y="138074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按章反思 → 按类型反思 → 跨章一致性检查，错误率 20%→3%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96596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03911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+ 规则混合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46320" y="238658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做语义理解，规则脚本做格式验证，成本最优分工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420624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7180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4495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迁移参数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46320" y="339242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换书只需调整：实体类型 / 体裁分类 / 别名规则 / 年份体系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977640"/>
            <a:ext cx="420624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97764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05079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直接可执行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846320" y="4398264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 SKILL 文档 + 待处理文本一起交给 Claude Code，即可运行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08030"/>
          </a:solidFill>
          <a:ln w="12700">
            <a:solidFill>
              <a:srgbClr val="A08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417320"/>
            <a:ext cx="8778240" cy="36576"/>
          </a:xfrm>
          <a:prstGeom prst="rect">
            <a:avLst/>
          </a:prstGeom>
          <a:solidFill>
            <a:srgbClr val="DDD0B8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A0803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III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8046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元技能 Meta-skill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64592" y="2834640"/>
            <a:ext cx="8778240" cy="36576"/>
          </a:xfrm>
          <a:prstGeom prst="rect">
            <a:avLst/>
          </a:prstGeom>
          <a:solidFill>
            <a:srgbClr val="DDD0B8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0175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95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与具体数据类型无关的通用方法论 · 适用于任何大规模知识工程项目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元元技能：好东西都是总结出来的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9144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033145"/>
            <a:ext cx="6629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OTF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0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 The Fly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2468880" cy="2578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即时总结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发现模式的那一刻立即记录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3次重复 → 立即归纳规则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9748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60120"/>
            <a:ext cx="2697480" cy="914400"/>
          </a:xfrm>
          <a:prstGeom prst="rect">
            <a:avLst/>
          </a:prstGeom>
          <a:solidFill>
            <a:srgbClr val="A08030"/>
          </a:solidFill>
          <a:ln w="12700">
            <a:solidFill>
              <a:srgbClr val="A08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5755" y="1033145"/>
            <a:ext cx="532765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JIT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3360" y="1490472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0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Just In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2011680"/>
            <a:ext cx="2468880" cy="2578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及时交付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MVP优先，快速迭代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60% → 80% → 92% → 97%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69748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60120"/>
            <a:ext cx="2697480" cy="914400"/>
          </a:xfrm>
          <a:prstGeom prst="rect">
            <a:avLst/>
          </a:prstGeom>
          <a:solidFill>
            <a:srgbClr val="8B7240"/>
          </a:solidFill>
          <a:ln w="12700">
            <a:solidFill>
              <a:srgbClr val="8B7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8605" y="1051560"/>
            <a:ext cx="1567815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Bootstrap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490472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0A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自举增殖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2011680"/>
            <a:ext cx="2468880" cy="2578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知识增殖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每一步迭代产生下一步的元知识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人工干预递减，自动化指数增长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OTF × JIT × Bootstrap = 自举式知识增殖系统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个元技能 · 两层架构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" y="960120"/>
            <a:ext cx="320040" cy="1719072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109728" y="960120"/>
            <a:ext cx="320040" cy="1719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" y="2788920"/>
            <a:ext cx="320040" cy="214884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109728" y="2788920"/>
            <a:ext cx="32004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987552"/>
            <a:ext cx="1115568" cy="1664208"/>
          </a:xfrm>
          <a:prstGeom prst="rect">
            <a:avLst/>
          </a:prstGeom>
          <a:solidFill>
            <a:srgbClr val="2C1F0A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87552"/>
            <a:ext cx="1115568" cy="292608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875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1316736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好东西都是总结出来的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7784" y="214884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元元技能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09928" y="987552"/>
            <a:ext cx="1115568" cy="16642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09928" y="987552"/>
            <a:ext cx="1115568" cy="292608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9875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64792" y="1316736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64792" y="214884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Agent质量审查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16936" y="987552"/>
            <a:ext cx="1115568" cy="16642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16936" y="987552"/>
            <a:ext cx="1115568" cy="292608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16936" y="9875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71800" y="1316736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迭代工作流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0" y="214884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MVP→收敛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23944" y="987552"/>
            <a:ext cx="1115568" cy="16642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23944" y="987552"/>
            <a:ext cx="1115568" cy="292608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23944" y="9875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78808" y="1316736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冷启动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78808" y="214884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5样本→MVP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30952" y="987552"/>
            <a:ext cx="1115568" cy="16642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30952" y="987552"/>
            <a:ext cx="1115568" cy="292608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0952" y="9875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85816" y="1316736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柳叶刀方法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85816" y="214884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精细分解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37960" y="987552"/>
            <a:ext cx="1115568" cy="16642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37960" y="987552"/>
            <a:ext cx="1115568" cy="292608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9875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92824" y="1316736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知识作为上下文压缩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92824" y="214884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KG价值论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44968" y="987552"/>
            <a:ext cx="1115568" cy="166420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744968" y="987552"/>
            <a:ext cx="1115568" cy="292608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44968" y="9875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99832" y="1316736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SKILL优化与演化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799832" y="214884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方法论迭代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2816352"/>
            <a:ext cx="1115568" cy="202996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" y="2816352"/>
            <a:ext cx="1115568" cy="292608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8163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" y="3145536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可读性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57784" y="4114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人类优先格式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09928" y="2816352"/>
            <a:ext cx="1115568" cy="202996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709928" y="2816352"/>
            <a:ext cx="1115568" cy="292608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09928" y="28163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764792" y="3145536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标注体系设计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764792" y="4114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语义标记工程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916936" y="2816352"/>
            <a:ext cx="1115568" cy="202996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916936" y="2816352"/>
            <a:ext cx="1115568" cy="292608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16936" y="28163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M09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971800" y="3145536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Agent提示词工程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971800" y="4114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五层金字塔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23944" y="2816352"/>
            <a:ext cx="1115568" cy="202996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123944" y="2816352"/>
            <a:ext cx="1115568" cy="292608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23944" y="28163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M10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78808" y="3145536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质量控制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178808" y="4114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五层Lint体系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30952" y="2816352"/>
            <a:ext cx="1115568" cy="202996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330952" y="2816352"/>
            <a:ext cx="1115568" cy="292608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30952" y="28163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M11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85816" y="3145536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数据体感培养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385816" y="4114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十层观察体系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537960" y="2816352"/>
            <a:ext cx="1115568" cy="202996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537960" y="2816352"/>
            <a:ext cx="1115568" cy="292608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28163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M12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92824" y="3145536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数据融合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592824" y="4114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多源对齐消歧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44968" y="2816352"/>
            <a:ext cx="1115568" cy="2029968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744968" y="2816352"/>
            <a:ext cx="1115568" cy="292608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44968" y="2816352"/>
            <a:ext cx="11155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22A"/>
                </a:solidFill>
              </a:rPr>
              <a:t>M13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799832" y="3145536"/>
            <a:ext cx="1005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技能迁移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7799832" y="4114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跨项目复用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几个核心元技能详解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42062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60120"/>
            <a:ext cx="4069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M01 反思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" y="1453896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按章反思→按类型反思→跨章一致性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85623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自主发现系统性错误模式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2258568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错误率：20%→5%→3% 多轮收敛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206240" cy="420624"/>
          </a:xfrm>
          <a:prstGeom prst="rect">
            <a:avLst/>
          </a:prstGeom>
          <a:solidFill>
            <a:srgbClr val="A08030"/>
          </a:solidFill>
          <a:ln w="12700">
            <a:solidFill>
              <a:srgbClr val="A08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960120"/>
            <a:ext cx="4069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M04 柳叶刀方法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1453896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80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做语义 / 规则脚本做验证 / 代码做批量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3168" y="185623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80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古文多义词极多，不能用关键词匹配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2258568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80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混合方案矩阵：精度×速度×成本三角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420624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26080"/>
            <a:ext cx="4206240" cy="420624"/>
          </a:xfrm>
          <a:prstGeom prst="rect">
            <a:avLst/>
          </a:prstGeom>
          <a:solidFill>
            <a:srgbClr val="8B7240"/>
          </a:solidFill>
          <a:ln w="12700">
            <a:solidFill>
              <a:srgbClr val="8B7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926080"/>
            <a:ext cx="4069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M09 提示词工程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" y="3419856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2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文档 = Agent 的 DNA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" y="382219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2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五层金字塔：原则→规则→示例→反例→边界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4224528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2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是积累出来的，不是一次写完的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20624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26080"/>
            <a:ext cx="4206240" cy="420624"/>
          </a:xfrm>
          <a:prstGeom prst="rect">
            <a:avLst/>
          </a:prstGeom>
          <a:solidFill>
            <a:srgbClr val="8B7240"/>
          </a:solidFill>
          <a:ln w="12700">
            <a:solidFill>
              <a:srgbClr val="8B72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926080"/>
            <a:ext cx="40690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M10 质量控制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73168" y="3419856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2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五层质检：格式→统计→一致性→语义→跨章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382219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2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每层都有自动 Lint 脚本，形成闭环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4224528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2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 </a:t>
            </a:r>
            <a:r>
              <a:rPr lang="en-US" sz="1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Lint 规则来自实际错误案例总结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人机协作分工：一人 + 一群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3840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840480" cy="45720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人（决策者）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定义愿景，设计标注体系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审美判断，纠正语义错误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质量把控，最终决策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元技能总结与 SKILL 迭代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跨项目迁移策略制定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29100" y="25146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8922A"/>
                </a:solidFill>
              </a:rPr>
              <a:t>⇌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029200" y="960120"/>
            <a:ext cx="3840480" cy="3840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960120"/>
            <a:ext cx="3840480" cy="45720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9601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AI（执行者）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15361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大规模 NER 实体标注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215798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代码开发 · 批量文件操作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2779776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渲染管线 · 文档生成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40156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Lint 工具链运行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402336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知识图谱结构化输出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如何用同一套管线处理另一部书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0" cy="91440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22A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105156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获取 SKILL 文档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1463040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clone https://github.com/baojie/shiji-kb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 skills/  — 26个SKILL文档，即取即用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640080" cy="91440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6596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22A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24128" y="20574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调整4个参数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2468880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实体类型 · 体裁分类 · 别名规则 · 年份体系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框架不变，参数变，无需重新设计管线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8595360" cy="9144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640080" cy="91440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22A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24128" y="30632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交给 Claude Code 运行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3474720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 SKILL 文档 + 待处理文本交给 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按管线自动执行，人只做质检和纠错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77640"/>
            <a:ext cx="640080" cy="91440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7764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22A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24128" y="40690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迭代与收敛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4480560"/>
            <a:ext cx="7589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P0→P1→P2→收敛，每轮OTF总结错误模式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更新SKILL文档，下一轮自动化率提升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迁移案例：金融语料（公告 &amp; 年报）</a:t>
            </a:r>
            <a:endParaRPr lang="en-US" sz="2200" b="1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023360" cy="404164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023360" cy="45720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🔧  只需调整的 4 个参数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" y="1481328"/>
            <a:ext cx="54864" cy="7132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49961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实体类型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" y="175564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原：人名 / 地名 / 官职 / 朝代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938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新：公司 / 高管 / 财务指标 / 监管机构 / 证券代码 / 风险因素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" y="2350008"/>
            <a:ext cx="54864" cy="7132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6829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体裁分类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" y="26243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原：纪传体 / 表 / 书 / 本纪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8072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新：定期报告 / 临时公告 / 问询函回复 / 招股书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3218688"/>
            <a:ext cx="54864" cy="7132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23697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别名规则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" y="349300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原：谥号 / 字 / 封号 / 短称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675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新：股票简称 / 曾用名 / 子公司 / 简称映射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4087368"/>
            <a:ext cx="54864" cy="7132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10565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时间体系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8912" y="43616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原：在位纪年 → 公元年推断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45445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新：会计年度 / 报告期 / 披露日期三轨对齐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914400"/>
            <a:ext cx="4434840" cy="404164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914400"/>
            <a:ext cx="4434840" cy="45720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9144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📊  管线跑完后能得到什么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44568" y="1481328"/>
            <a:ext cx="384048" cy="713232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148132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22A"/>
                </a:solidFill>
              </a:rPr>
              <a:t>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92624" y="149961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公司实体图谱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92624" y="1783080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母/子/参股公司关系网络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高管任期 · 交叉持股 · 关联方穿透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44568" y="2350008"/>
            <a:ext cx="384048" cy="713232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235000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22A"/>
                </a:solidFill>
              </a:rPr>
              <a:t>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92624" y="23682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财务事件时间线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92624" y="2651760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融资/并购/诉讼/分红/违规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跨公告自动串联，消除重复披露噪音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44568" y="3218688"/>
            <a:ext cx="384048" cy="713232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4568" y="321868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22A"/>
                </a:solidFill>
              </a:rPr>
              <a:t>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92624" y="323697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风险信号知识单元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992624" y="3520440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审计意见变化/商誉减值/限售解禁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结构化为可检索 SKU，直接喂模型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44568" y="4087368"/>
            <a:ext cx="384048" cy="713232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44568" y="40873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22A"/>
                </a:solidFill>
              </a:rPr>
              <a:t>④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92624" y="410565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监管语义合规检查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992624" y="4389120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信披格式 lint · 前后矛盾检测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同一指标跨期异常自动标记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实战：把金融数据获取部署在 Claude Code (龙虾) 里</a:t>
            </a:r>
            <a:endParaRPr lang="en-US" sz="2100" b="1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743200" cy="438912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一键安装 Skill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8328" y="1426464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npx skills add lihanghang/clawshire-open-skill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1828800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或：claude skill install &lt;github-url&gt;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2231136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设置 CLAWSHIRE_API_KEY 环境变量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1440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914400"/>
            <a:ext cx="2743200" cy="438912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914400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自然语言查询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46120" y="1426464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帮我查最近有股票异常波动的公司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1828800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003041 近期公告分析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2231136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纳百川最近3个月有哪些催化因素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44184" y="914400"/>
            <a:ext cx="2743200" cy="182880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44184" y="914400"/>
            <a:ext cx="2743200" cy="438912"/>
          </a:xfrm>
          <a:prstGeom prst="rect">
            <a:avLst/>
          </a:prstGeom>
          <a:solidFill>
            <a:srgbClr val="A08030"/>
          </a:solidFill>
          <a:ln w="12700">
            <a:solidFill>
              <a:srgbClr val="A08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914400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Skill 自动完成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53912" y="1426464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调 /api/v1/announcements 取结构化 JSON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53912" y="1828800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自动整理成投研报告 / 表格 / 时间线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53912" y="2231136"/>
            <a:ext cx="25237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可接钉钉/飞书 Webhook 实时推送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8686800" cy="320040"/>
          </a:xfrm>
          <a:prstGeom prst="rect">
            <a:avLst/>
          </a:prstGeom>
          <a:solidFill>
            <a:srgbClr val="F0E8D6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88036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14 类结构化提取（infotype 参数直接传中文名）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3291840"/>
            <a:ext cx="208483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29184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人事变动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3291840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97.7%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04872" y="3291840"/>
            <a:ext cx="208483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329184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董事会决议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67912" y="3291840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81144" y="3291840"/>
            <a:ext cx="208483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329184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业绩预告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44184" y="3291840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98.7%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57416" y="3291840"/>
            <a:ext cx="208483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329184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股票交易异常波动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0456" y="3291840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794760"/>
            <a:ext cx="208483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" y="379476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核心技术人员离职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91640" y="3794760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04872" y="3794760"/>
            <a:ext cx="208483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379476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重大资产重组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67912" y="3794760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81144" y="3794760"/>
            <a:ext cx="208483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90872" y="379476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变更会计师事务所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44184" y="3794760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370832"/>
            <a:ext cx="8686800" cy="621792"/>
          </a:xfrm>
          <a:prstGeom prst="rect">
            <a:avLst/>
          </a:prstGeom>
          <a:solidFill>
            <a:srgbClr val="F0E8D6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370832"/>
            <a:ext cx="8412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</a:t>
            </a:r>
            <a:r>
              <a:rPr lang="en-US" sz="115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clawshire.cn  ·  API：api.clawshire.cn  ·  每 Key 免费 100 次  ·  公告发布后 1～3 分钟内完成提取推送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实战案例：龙虾对爬取数据的异常波动逻辑分析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真爱美家（003041）近期公告 · Agent 结构化提取 + 因果推理</a:t>
            </a:r>
            <a:endParaRPr lang="en-US" sz="1100" dirty="0"/>
          </a:p>
        </p:txBody>
      </p:sp>
      <p:pic>
        <p:nvPicPr>
          <p:cNvPr id="5" name="Image 0" descr="/mnt/user-data/uploads/1773889855344_image-2026031619333026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78992"/>
            <a:ext cx="8321040" cy="42686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 SKILL 索引 · 所有方法论文档链接</a:t>
            </a:r>
            <a:endParaRPr lang="en-US" sz="1900" b="1" dirty="0">
              <a:solidFill>
                <a:schemeClr val="tx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0E8D6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736592"/>
            <a:ext cx="8686800" cy="406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史记知识库 SKILL：</a:t>
            </a:r>
            <a:r>
              <a:rPr lang="en-US" sz="95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https://github.com/baojie/shiji-kb/tree/main/skills</a:t>
            </a:r>
            <a:r>
              <a:rPr lang="en-US" sz="950" b="1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ClawShire API：</a:t>
            </a:r>
            <a:r>
              <a:rPr lang="en-US" sz="95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https://api.clawshire.cn/scalar</a:t>
            </a:r>
            <a:r>
              <a:rPr lang="en-US" sz="950" b="1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ClawShire Skill：</a:t>
            </a:r>
            <a:r>
              <a:rPr lang="en-US" sz="950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https://github.com/lihanghang/clawshire-open-skill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2103120" cy="27432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" y="74980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元技能 MetaSkill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1060704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9" name="Text 7">
            <a:hlinkClick r:id="rId1"/>
          </p:cNvPr>
          <p:cNvSpPr/>
          <p:nvPr/>
        </p:nvSpPr>
        <p:spPr>
          <a:xfrm>
            <a:off x="219456" y="106070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META-00  好东西都是总结出来的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64592" y="1284732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1" name="Text 9">
            <a:hlinkClick r:id="rId2"/>
          </p:cNvPr>
          <p:cNvSpPr/>
          <p:nvPr/>
        </p:nvSpPr>
        <p:spPr>
          <a:xfrm>
            <a:off x="219456" y="128473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META-01  反思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64592" y="1508760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3" name="Text 11">
            <a:hlinkClick r:id="rId3"/>
          </p:cNvPr>
          <p:cNvSpPr/>
          <p:nvPr/>
        </p:nvSpPr>
        <p:spPr>
          <a:xfrm>
            <a:off x="219456" y="150876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META-02  迭代工作流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64592" y="1732788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5" name="Text 13">
            <a:hlinkClick r:id="rId4"/>
          </p:cNvPr>
          <p:cNvSpPr/>
          <p:nvPr/>
        </p:nvSpPr>
        <p:spPr>
          <a:xfrm>
            <a:off x="219456" y="173278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META-03  冷启动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64592" y="1956816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7" name="Text 15">
            <a:hlinkClick r:id="rId5"/>
          </p:cNvPr>
          <p:cNvSpPr/>
          <p:nvPr/>
        </p:nvSpPr>
        <p:spPr>
          <a:xfrm>
            <a:off x="219456" y="1956816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META-04  柳叶刀方法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64592" y="2180844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9" name="Text 17">
            <a:hlinkClick r:id="rId6"/>
          </p:cNvPr>
          <p:cNvSpPr/>
          <p:nvPr/>
        </p:nvSpPr>
        <p:spPr>
          <a:xfrm>
            <a:off x="219456" y="218084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META-05  知识作为上下文压缩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64592" y="2404872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1" name="Text 19">
            <a:hlinkClick r:id="rId7"/>
          </p:cNvPr>
          <p:cNvSpPr/>
          <p:nvPr/>
        </p:nvSpPr>
        <p:spPr>
          <a:xfrm>
            <a:off x="219456" y="240487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META-06  SKILL优化与演化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64592" y="2628900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3" name="Text 21">
            <a:hlinkClick r:id="rId8"/>
          </p:cNvPr>
          <p:cNvSpPr/>
          <p:nvPr/>
        </p:nvSpPr>
        <p:spPr>
          <a:xfrm>
            <a:off x="219456" y="262890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META-07  可读性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64592" y="2852928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5" name="Text 23">
            <a:hlinkClick r:id="rId9"/>
          </p:cNvPr>
          <p:cNvSpPr/>
          <p:nvPr/>
        </p:nvSpPr>
        <p:spPr>
          <a:xfrm>
            <a:off x="219456" y="285292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META-08  标注体系设计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64592" y="3076956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7" name="Text 25">
            <a:hlinkClick r:id="rId10"/>
          </p:cNvPr>
          <p:cNvSpPr/>
          <p:nvPr/>
        </p:nvSpPr>
        <p:spPr>
          <a:xfrm>
            <a:off x="219456" y="3076956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META-09  Agent提示词工程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164592" y="3300984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29" name="Text 27">
            <a:hlinkClick r:id="rId11"/>
          </p:cNvPr>
          <p:cNvSpPr/>
          <p:nvPr/>
        </p:nvSpPr>
        <p:spPr>
          <a:xfrm>
            <a:off x="219456" y="330098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META-10  质量控制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164592" y="3525012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1" name="Text 29">
            <a:hlinkClick r:id="rId12"/>
          </p:cNvPr>
          <p:cNvSpPr/>
          <p:nvPr/>
        </p:nvSpPr>
        <p:spPr>
          <a:xfrm>
            <a:off x="219456" y="352501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META-11  数据体感培养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164592" y="3749040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3" name="Text 31">
            <a:hlinkClick r:id="rId13"/>
          </p:cNvPr>
          <p:cNvSpPr/>
          <p:nvPr/>
        </p:nvSpPr>
        <p:spPr>
          <a:xfrm>
            <a:off x="219456" y="374904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META-12  数据融合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64592" y="3973068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5" name="Text 33">
            <a:hlinkClick r:id="rId14"/>
          </p:cNvPr>
          <p:cNvSpPr/>
          <p:nvPr/>
        </p:nvSpPr>
        <p:spPr>
          <a:xfrm>
            <a:off x="219456" y="397306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META-13  技能迁移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359152" y="749808"/>
            <a:ext cx="2103120" cy="274320"/>
          </a:xfrm>
          <a:prstGeom prst="rect">
            <a:avLst/>
          </a:prstGeom>
          <a:solidFill>
            <a:srgbClr val="2C1F0A"/>
          </a:solidFill>
          <a:ln w="12700">
            <a:solidFill>
              <a:srgbClr val="2C1F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14016" y="74980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构造管线 SKILL（01–05）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359152" y="1060704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39" name="Text 37">
            <a:hlinkClick r:id="rId15"/>
          </p:cNvPr>
          <p:cNvSpPr/>
          <p:nvPr/>
        </p:nvSpPr>
        <p:spPr>
          <a:xfrm>
            <a:off x="2414016" y="106070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SKILL-00  管线总览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359152" y="1284732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1" name="Text 39">
            <a:hlinkClick r:id="rId16"/>
          </p:cNvPr>
          <p:cNvSpPr/>
          <p:nvPr/>
        </p:nvSpPr>
        <p:spPr>
          <a:xfrm>
            <a:off x="2414016" y="128473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SKILL-01  古籍校勘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2359152" y="1508760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3" name="Text 41">
            <a:hlinkClick r:id="rId17"/>
          </p:cNvPr>
          <p:cNvSpPr/>
          <p:nvPr/>
        </p:nvSpPr>
        <p:spPr>
          <a:xfrm>
            <a:off x="2414016" y="150876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  结构分析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359152" y="1732788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5" name="Text 43">
            <a:hlinkClick r:id="rId18"/>
          </p:cNvPr>
          <p:cNvSpPr/>
          <p:nvPr/>
        </p:nvSpPr>
        <p:spPr>
          <a:xfrm>
            <a:off x="2414016" y="173278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SKILL-02a 章节切分与编号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359152" y="1956816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7" name="Text 45">
            <a:hlinkClick r:id="rId19"/>
          </p:cNvPr>
          <p:cNvSpPr/>
          <p:nvPr/>
        </p:nvSpPr>
        <p:spPr>
          <a:xfrm>
            <a:off x="2414016" y="1956816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SKILL-02b 区块与韵文处理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2359152" y="2180844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49" name="Text 47">
            <a:hlinkClick r:id="rId20"/>
          </p:cNvPr>
          <p:cNvSpPr/>
          <p:nvPr/>
        </p:nvSpPr>
        <p:spPr>
          <a:xfrm>
            <a:off x="2414016" y="218084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SKILL-02c 三家注标注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2359152" y="2404872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51" name="Text 49">
            <a:hlinkClick r:id="rId21"/>
          </p:cNvPr>
          <p:cNvSpPr/>
          <p:nvPr/>
        </p:nvSpPr>
        <p:spPr>
          <a:xfrm>
            <a:off x="2414016" y="240487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SKILL-02d 结构语义分析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359152" y="2628900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53" name="Text 51">
            <a:hlinkClick r:id="rId22"/>
          </p:cNvPr>
          <p:cNvSpPr/>
          <p:nvPr/>
        </p:nvSpPr>
        <p:spPr>
          <a:xfrm>
            <a:off x="2414016" y="262890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SKILL-02e 词法分析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2359152" y="2852928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55" name="Text 53">
            <a:hlinkClick r:id="rId23"/>
          </p:cNvPr>
          <p:cNvSpPr/>
          <p:nvPr/>
        </p:nvSpPr>
        <p:spPr>
          <a:xfrm>
            <a:off x="2414016" y="285292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SKILL-02f 文本统计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2359152" y="3076956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57" name="Text 55">
            <a:hlinkClick r:id="rId24"/>
          </p:cNvPr>
          <p:cNvSpPr/>
          <p:nvPr/>
        </p:nvSpPr>
        <p:spPr>
          <a:xfrm>
            <a:off x="2414016" y="3076956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SKILL-02g 表格结构语义分析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359152" y="3300984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59" name="Text 57">
            <a:hlinkClick r:id="rId25"/>
          </p:cNvPr>
          <p:cNvSpPr/>
          <p:nvPr/>
        </p:nvSpPr>
        <p:spPr>
          <a:xfrm>
            <a:off x="2414016" y="330098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SKILL-02h 词表构建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2359152" y="3525012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61" name="Text 59">
            <a:hlinkClick r:id="rId26"/>
          </p:cNvPr>
          <p:cNvSpPr/>
          <p:nvPr/>
        </p:nvSpPr>
        <p:spPr>
          <a:xfrm>
            <a:off x="2414016" y="352501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SKILL-03  实体构建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2359152" y="3749040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63" name="Text 61">
            <a:hlinkClick r:id="rId27"/>
          </p:cNvPr>
          <p:cNvSpPr/>
          <p:nvPr/>
        </p:nvSpPr>
        <p:spPr>
          <a:xfrm>
            <a:off x="2414016" y="374904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SKILL-03a 实体标注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359152" y="3973068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65" name="Text 63">
            <a:hlinkClick r:id="rId28"/>
          </p:cNvPr>
          <p:cNvSpPr/>
          <p:nvPr/>
        </p:nvSpPr>
        <p:spPr>
          <a:xfrm>
            <a:off x="2414016" y="397306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SKILL-03b 实体消歧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4553712" y="749808"/>
            <a:ext cx="2103120" cy="274320"/>
          </a:xfrm>
          <a:prstGeom prst="rect">
            <a:avLst/>
          </a:prstGeom>
          <a:solidFill>
            <a:srgbClr val="A08030"/>
          </a:solidFill>
          <a:ln w="12700">
            <a:solidFill>
              <a:srgbClr val="A0803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08576" y="74980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构造管线 SKILL（03c–09）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53712" y="1060704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69" name="Text 67">
            <a:hlinkClick r:id="rId29"/>
          </p:cNvPr>
          <p:cNvSpPr/>
          <p:nvPr/>
        </p:nvSpPr>
        <p:spPr>
          <a:xfrm>
            <a:off x="4608576" y="106070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SKILL-03c 实体标注反思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4553712" y="1284732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71" name="Text 69">
            <a:hlinkClick r:id="rId30"/>
          </p:cNvPr>
          <p:cNvSpPr/>
          <p:nvPr/>
        </p:nvSpPr>
        <p:spPr>
          <a:xfrm>
            <a:off x="4608576" y="128473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SKILL-03d 渲染与发布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4553712" y="1508760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73" name="Text 71">
            <a:hlinkClick r:id="rId31"/>
          </p:cNvPr>
          <p:cNvSpPr/>
          <p:nvPr/>
        </p:nvSpPr>
        <p:spPr>
          <a:xfrm>
            <a:off x="4608576" y="150876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SKILL-04  事件构建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4553712" y="1732788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75" name="Text 73">
            <a:hlinkClick r:id="rId32"/>
          </p:cNvPr>
          <p:cNvSpPr/>
          <p:nvPr/>
        </p:nvSpPr>
        <p:spPr>
          <a:xfrm>
            <a:off x="4608576" y="173278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SKILL-04a 事件识别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4553712" y="1956816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77" name="Text 75">
            <a:hlinkClick r:id="rId33"/>
          </p:cNvPr>
          <p:cNvSpPr/>
          <p:nvPr/>
        </p:nvSpPr>
        <p:spPr>
          <a:xfrm>
            <a:off x="4608576" y="1956816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SKILL-04b 十表事件处理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4553712" y="2180844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79" name="Text 77">
            <a:hlinkClick r:id="rId34"/>
          </p:cNvPr>
          <p:cNvSpPr/>
          <p:nvPr/>
        </p:nvSpPr>
        <p:spPr>
          <a:xfrm>
            <a:off x="4608576" y="218084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SKILL-04c 事件年代推断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4553712" y="2404872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81" name="Text 79">
            <a:hlinkClick r:id="rId35"/>
          </p:cNvPr>
          <p:cNvSpPr/>
          <p:nvPr/>
        </p:nvSpPr>
        <p:spPr>
          <a:xfrm>
            <a:off x="4608576" y="240487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SKILL-04d 事件年代审查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4553712" y="2628900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83" name="Text 81">
            <a:hlinkClick r:id="rId36"/>
          </p:cNvPr>
          <p:cNvSpPr/>
          <p:nvPr/>
        </p:nvSpPr>
        <p:spPr>
          <a:xfrm>
            <a:off x="4608576" y="262890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SKILL-04e 年份消歧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4553712" y="2852928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85" name="Text 83">
            <a:hlinkClick r:id="rId37"/>
          </p:cNvPr>
          <p:cNvSpPr/>
          <p:nvPr/>
        </p:nvSpPr>
        <p:spPr>
          <a:xfrm>
            <a:off x="4608576" y="285292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SKILL-05  关系构建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4553712" y="3076956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87" name="Text 85">
            <a:hlinkClick r:id="rId38"/>
          </p:cNvPr>
          <p:cNvSpPr/>
          <p:nvPr/>
        </p:nvSpPr>
        <p:spPr>
          <a:xfrm>
            <a:off x="4608576" y="3076956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SKILL-05a 事件关系发现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4553712" y="3300984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89" name="Text 87">
            <a:hlinkClick r:id="rId39"/>
          </p:cNvPr>
          <p:cNvSpPr/>
          <p:nvPr/>
        </p:nvSpPr>
        <p:spPr>
          <a:xfrm>
            <a:off x="4608576" y="330098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SKILL-05b 实体关系构建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4553712" y="3525012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91" name="Text 89">
            <a:hlinkClick r:id="rId40"/>
          </p:cNvPr>
          <p:cNvSpPr/>
          <p:nvPr/>
        </p:nvSpPr>
        <p:spPr>
          <a:xfrm>
            <a:off x="4608576" y="352501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SKILL-05c 人物关系构建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4553712" y="3749040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93" name="Text 91">
            <a:hlinkClick r:id="rId41"/>
          </p:cNvPr>
          <p:cNvSpPr/>
          <p:nvPr/>
        </p:nvSpPr>
        <p:spPr>
          <a:xfrm>
            <a:off x="4608576" y="374904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SKILL-05d 事实发现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4553712" y="3973068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95" name="Text 93">
            <a:hlinkClick r:id="rId42"/>
          </p:cNvPr>
          <p:cNvSpPr/>
          <p:nvPr/>
        </p:nvSpPr>
        <p:spPr>
          <a:xfrm>
            <a:off x="4608576" y="397306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SKILL-06  本体构建 / 06a 实体到本体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6748272" y="749808"/>
            <a:ext cx="2103120" cy="274320"/>
          </a:xfrm>
          <a:prstGeom prst="rect">
            <a:avLst/>
          </a:prstGeom>
          <a:solidFill>
            <a:srgbClr val="8B7240"/>
          </a:solidFill>
          <a:ln w="12700">
            <a:solidFill>
              <a:srgbClr val="8B72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03136" y="74980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构造管线 SKILL（07–09）+ ClawShire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748272" y="1060704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99" name="Text 97">
            <a:hlinkClick r:id="rId43"/>
          </p:cNvPr>
          <p:cNvSpPr/>
          <p:nvPr/>
        </p:nvSpPr>
        <p:spPr>
          <a:xfrm>
            <a:off x="6803136" y="106070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SKILL-07  逻辑推理</a:t>
            </a:r>
            <a:endParaRPr lang="en-US" sz="720" dirty="0"/>
          </a:p>
        </p:txBody>
      </p:sp>
      <p:sp>
        <p:nvSpPr>
          <p:cNvPr id="100" name="Shape 98"/>
          <p:cNvSpPr/>
          <p:nvPr/>
        </p:nvSpPr>
        <p:spPr>
          <a:xfrm>
            <a:off x="6748272" y="1284732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01" name="Text 99">
            <a:hlinkClick r:id="rId44"/>
          </p:cNvPr>
          <p:cNvSpPr/>
          <p:nvPr/>
        </p:nvSpPr>
        <p:spPr>
          <a:xfrm>
            <a:off x="6803136" y="128473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SKILL-07a 人物生卒年推断</a:t>
            </a:r>
            <a:endParaRPr lang="en-US" sz="720" dirty="0"/>
          </a:p>
        </p:txBody>
      </p:sp>
      <p:sp>
        <p:nvSpPr>
          <p:cNvPr id="102" name="Shape 100"/>
          <p:cNvSpPr/>
          <p:nvPr/>
        </p:nvSpPr>
        <p:spPr>
          <a:xfrm>
            <a:off x="6748272" y="1508760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03" name="Text 101">
            <a:hlinkClick r:id="rId45"/>
          </p:cNvPr>
          <p:cNvSpPr/>
          <p:nvPr/>
        </p:nvSpPr>
        <p:spPr>
          <a:xfrm>
            <a:off x="6803136" y="150876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SKILL-07b 姓氏推理</a:t>
            </a:r>
            <a:endParaRPr lang="en-US" sz="720" dirty="0"/>
          </a:p>
        </p:txBody>
      </p:sp>
      <p:sp>
        <p:nvSpPr>
          <p:cNvPr id="104" name="Shape 102"/>
          <p:cNvSpPr/>
          <p:nvPr/>
        </p:nvSpPr>
        <p:spPr>
          <a:xfrm>
            <a:off x="6748272" y="1732788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05" name="Text 103">
            <a:hlinkClick r:id="rId46"/>
          </p:cNvPr>
          <p:cNvSpPr/>
          <p:nvPr/>
        </p:nvSpPr>
        <p:spPr>
          <a:xfrm>
            <a:off x="6803136" y="173278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SKILL-07c 反常推理</a:t>
            </a:r>
            <a:endParaRPr lang="en-US" sz="720" dirty="0"/>
          </a:p>
        </p:txBody>
      </p:sp>
      <p:sp>
        <p:nvSpPr>
          <p:cNvPr id="106" name="Shape 104"/>
          <p:cNvSpPr/>
          <p:nvPr/>
        </p:nvSpPr>
        <p:spPr>
          <a:xfrm>
            <a:off x="6748272" y="1956816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07" name="Text 105">
            <a:hlinkClick r:id="rId47"/>
          </p:cNvPr>
          <p:cNvSpPr/>
          <p:nvPr/>
        </p:nvSpPr>
        <p:spPr>
          <a:xfrm>
            <a:off x="6803136" y="1956816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SKILL-08  SKU构造</a:t>
            </a:r>
            <a:endParaRPr lang="en-US" sz="720" dirty="0"/>
          </a:p>
        </p:txBody>
      </p:sp>
      <p:sp>
        <p:nvSpPr>
          <p:cNvPr id="108" name="Shape 106"/>
          <p:cNvSpPr/>
          <p:nvPr/>
        </p:nvSpPr>
        <p:spPr>
          <a:xfrm>
            <a:off x="6748272" y="2180844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09" name="Text 107">
            <a:hlinkClick r:id="rId48"/>
          </p:cNvPr>
          <p:cNvSpPr/>
          <p:nvPr/>
        </p:nvSpPr>
        <p:spPr>
          <a:xfrm>
            <a:off x="6803136" y="218084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SKILL-09  应用构造</a:t>
            </a:r>
            <a:endParaRPr lang="en-US" sz="720" dirty="0"/>
          </a:p>
        </p:txBody>
      </p:sp>
      <p:sp>
        <p:nvSpPr>
          <p:cNvPr id="110" name="Shape 108"/>
          <p:cNvSpPr/>
          <p:nvPr/>
        </p:nvSpPr>
        <p:spPr>
          <a:xfrm>
            <a:off x="6748272" y="2404872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11" name="Text 109">
            <a:hlinkClick r:id="rId49"/>
          </p:cNvPr>
          <p:cNvSpPr/>
          <p:nvPr/>
        </p:nvSpPr>
        <p:spPr>
          <a:xfrm>
            <a:off x="6803136" y="240487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SKILL-09a 认知辅助阅读器</a:t>
            </a:r>
            <a:endParaRPr lang="en-US" sz="720" dirty="0"/>
          </a:p>
        </p:txBody>
      </p:sp>
      <p:sp>
        <p:nvSpPr>
          <p:cNvPr id="112" name="Shape 110"/>
          <p:cNvSpPr/>
          <p:nvPr/>
        </p:nvSpPr>
        <p:spPr>
          <a:xfrm>
            <a:off x="6748272" y="2628900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13" name="Text 111">
            <a:hlinkClick r:id="rId50"/>
          </p:cNvPr>
          <p:cNvSpPr/>
          <p:nvPr/>
        </p:nvSpPr>
        <p:spPr>
          <a:xfrm>
            <a:off x="6803136" y="262890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SKILL-09b 知识库游戏化</a:t>
            </a:r>
            <a:endParaRPr lang="en-US" sz="720" dirty="0"/>
          </a:p>
        </p:txBody>
      </p:sp>
      <p:sp>
        <p:nvSpPr>
          <p:cNvPr id="114" name="Shape 112"/>
          <p:cNvSpPr/>
          <p:nvPr/>
        </p:nvSpPr>
        <p:spPr>
          <a:xfrm>
            <a:off x="6748272" y="2852928"/>
            <a:ext cx="2103120" cy="274320"/>
          </a:xfrm>
          <a:prstGeom prst="rect">
            <a:avLst/>
          </a:prstGeom>
          <a:solidFill>
            <a:srgbClr val="B8954A"/>
          </a:solidFill>
          <a:ln w="12700">
            <a:solidFill>
              <a:srgbClr val="B895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03136" y="2852928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ClawShire API（金融公告）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6748272" y="3163824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17" name="Text 115">
            <a:hlinkClick r:id="rId51"/>
          </p:cNvPr>
          <p:cNvSpPr/>
          <p:nvPr/>
        </p:nvSpPr>
        <p:spPr>
          <a:xfrm>
            <a:off x="6803136" y="3163824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完整文档</a:t>
            </a:r>
            <a:endParaRPr lang="en-US" sz="720" dirty="0"/>
          </a:p>
        </p:txBody>
      </p:sp>
      <p:sp>
        <p:nvSpPr>
          <p:cNvPr id="118" name="Shape 116"/>
          <p:cNvSpPr/>
          <p:nvPr/>
        </p:nvSpPr>
        <p:spPr>
          <a:xfrm>
            <a:off x="6748272" y="3387852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19" name="Text 117">
            <a:hlinkClick r:id="rId52"/>
          </p:cNvPr>
          <p:cNvSpPr/>
          <p:nvPr/>
        </p:nvSpPr>
        <p:spPr>
          <a:xfrm>
            <a:off x="6803136" y="3387852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快速上手教程</a:t>
            </a:r>
            <a:endParaRPr lang="en-US" sz="720" dirty="0"/>
          </a:p>
        </p:txBody>
      </p:sp>
      <p:sp>
        <p:nvSpPr>
          <p:cNvPr id="120" name="Shape 118"/>
          <p:cNvSpPr/>
          <p:nvPr/>
        </p:nvSpPr>
        <p:spPr>
          <a:xfrm>
            <a:off x="6748272" y="3611880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21" name="Text 119">
            <a:hlinkClick r:id="rId53"/>
          </p:cNvPr>
          <p:cNvSpPr/>
          <p:nvPr/>
        </p:nvSpPr>
        <p:spPr>
          <a:xfrm>
            <a:off x="6803136" y="3611880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钉钉/飞书推送配置</a:t>
            </a:r>
            <a:endParaRPr lang="en-US" sz="720" dirty="0"/>
          </a:p>
        </p:txBody>
      </p:sp>
      <p:sp>
        <p:nvSpPr>
          <p:cNvPr id="122" name="Shape 120"/>
          <p:cNvSpPr/>
          <p:nvPr/>
        </p:nvSpPr>
        <p:spPr>
          <a:xfrm>
            <a:off x="6748272" y="3835908"/>
            <a:ext cx="2103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23" name="Text 121">
            <a:hlinkClick r:id="rId54"/>
          </p:cNvPr>
          <p:cNvSpPr/>
          <p:nvPr/>
        </p:nvSpPr>
        <p:spPr>
          <a:xfrm>
            <a:off x="6803136" y="3835908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为什么需要结构化提取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6748272" y="4059936"/>
            <a:ext cx="2103120" cy="224028"/>
          </a:xfrm>
          <a:prstGeom prst="rect">
            <a:avLst/>
          </a:prstGeom>
          <a:solidFill>
            <a:srgbClr val="FAF6EE"/>
          </a:solidFill>
          <a:ln w="12700">
            <a:solidFill>
              <a:srgbClr val="DDD0B8"/>
            </a:solidFill>
            <a:prstDash val="solid"/>
          </a:ln>
        </p:spPr>
      </p:sp>
      <p:sp>
        <p:nvSpPr>
          <p:cNvPr id="125" name="Text 123">
            <a:hlinkClick r:id="rId55"/>
          </p:cNvPr>
          <p:cNvSpPr/>
          <p:nvPr/>
        </p:nvSpPr>
        <p:spPr>
          <a:xfrm>
            <a:off x="6803136" y="4059936"/>
            <a:ext cx="2029968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u="sng" dirty="0">
                <a:solidFill>
                  <a:srgbClr val="2C1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Clawshire Open Skill (npx)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0"/>
            <a:ext cx="8778240" cy="274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C892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愿景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82296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建立一个由 AI Agent 维护和持续进化的知识网络，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让任何人都能以问答、可视化、推理的方式</a:t>
            </a:r>
            <a:endParaRPr lang="en-US" sz="2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2C1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探索数千年的智慧。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" y="2971800"/>
            <a:ext cx="8778240" cy="274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18211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在线体验：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3182112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baojie.github.io/shiji-kb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363931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开源仓库：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639312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github.com/baojie/shiji-kb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409651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作者：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4096512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A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鲍捷  /  baojiexigua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《史记》只是一个起点 · 当前只完成了 1%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4793</Words>
  <Application>WPS 演示</Application>
  <PresentationFormat>On-screen Show (16:9)</PresentationFormat>
  <Paragraphs>723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微软雅黑</vt:lpstr>
      <vt:lpstr>微软雅黑</vt:lpstr>
      <vt:lpstr>Arial</vt:lpstr>
      <vt:lpstr>Arial</vt:lpstr>
      <vt:lpstr>Arial Black</vt:lpstr>
      <vt:lpstr>Arial Black</vt:lpstr>
      <vt:lpstr>Arial Black</vt:lpstr>
      <vt:lpstr>Calibri</vt:lpstr>
      <vt:lpstr>Arial Unicode MS</vt:lpstr>
      <vt:lpstr>等线</vt:lpstr>
      <vt:lpstr>Consolas</vt:lpstr>
      <vt:lpstr>Consolas</vt:lpstr>
      <vt:lpstr>Consolas</vt:lpstr>
      <vt:lpstr>Symbola</vt:lpstr>
      <vt:lpstr>Gubbi</vt:lpstr>
      <vt:lpstr>HarmonyOS Sans SC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用Agent构造大规模知识库</dc:title>
  <dc:creator>PptxGenJS</dc:creator>
  <dc:subject>PptxGenJS Presentation</dc:subject>
  <cp:lastModifiedBy>baojie</cp:lastModifiedBy>
  <cp:revision>5</cp:revision>
  <dcterms:created xsi:type="dcterms:W3CDTF">2026-03-19T03:51:32Z</dcterms:created>
  <dcterms:modified xsi:type="dcterms:W3CDTF">2026-03-19T03:51:32Z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C8891B5C78604C9E9770BB69BC316E82_42</vt:lpwstr>
  </property>
  <property fmtid="{D5CDD505-2E9C-101B-9397-08002B2CF9AE}" pid="3" name="KSOProductBuildVer">
    <vt:lpwstr>2052-12.1.0.17900</vt:lpwstr>
  </property>
</Properties>
</file>